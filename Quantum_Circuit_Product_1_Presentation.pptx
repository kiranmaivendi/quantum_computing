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Quantum Circuit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Designer and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4E5EB"/>
                </a:solidFill>
              </a:defRPr>
            </a:pPr>
            <a:r>
              <a:t>Product 1 final presentation</a:t>
            </a:r>
          </a:p>
          <a:p>
            <a:r>
              <a:t>Qiskit | Qiskit Aer | Streamlit</a:t>
            </a:r>
          </a:p>
        </p:txBody>
      </p:sp>
      <p:sp>
        <p:nvSpPr>
          <p:cNvPr id="6" name="Oval 5"/>
          <p:cNvSpPr/>
          <p:nvPr/>
        </p:nvSpPr>
        <p:spPr>
          <a:xfrm>
            <a:off x="7498079" y="1143000"/>
            <a:ext cx="1828800" cy="1828800"/>
          </a:xfrm>
          <a:prstGeom prst="ellipse">
            <a:avLst/>
          </a:prstGeom>
          <a:solidFill>
            <a:srgbClr val="D9EEF2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3017520"/>
            <a:ext cx="1143000" cy="11430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What the application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3240"/>
                </a:solidFill>
                <a:latin typeface="Aptos"/>
              </a:defRPr>
            </a:pPr>
            <a:r>
              <a:t>Construct fundamental single-qubit and multi-qubit circuits.</a:t>
            </a:r>
          </a:p>
          <a:p>
            <a:pPr>
              <a:spcAft>
                <a:spcPts val="1200"/>
              </a:spcAft>
              <a:defRPr sz="2000">
                <a:solidFill>
                  <a:srgbClr val="223240"/>
                </a:solidFill>
                <a:latin typeface="Aptos"/>
              </a:defRPr>
            </a:pPr>
            <a:r>
              <a:t>Explain qubits, gates, superposition, entanglement, and measurement.</a:t>
            </a:r>
          </a:p>
          <a:p>
            <a:pPr>
              <a:spcAft>
                <a:spcPts val="1200"/>
              </a:spcAft>
              <a:defRPr sz="2000">
                <a:solidFill>
                  <a:srgbClr val="223240"/>
                </a:solidFill>
                <a:latin typeface="Aptos"/>
              </a:defRPr>
            </a:pPr>
            <a:r>
              <a:t>Simulate ideal statevectors and finite-shot measurement outcomes.</a:t>
            </a:r>
          </a:p>
          <a:p>
            <a:pPr>
              <a:spcAft>
                <a:spcPts val="1200"/>
              </a:spcAft>
              <a:defRPr sz="2000">
                <a:solidFill>
                  <a:srgbClr val="223240"/>
                </a:solidFill>
                <a:latin typeface="Aptos"/>
              </a:defRPr>
            </a:pPr>
            <a:r>
              <a:t>Visualize circuit diagrams, histograms, and Bloch representations.</a:t>
            </a:r>
          </a:p>
          <a:p>
            <a:pPr>
              <a:spcAft>
                <a:spcPts val="1200"/>
              </a:spcAft>
              <a:defRPr sz="2000">
                <a:solidFill>
                  <a:srgbClr val="223240"/>
                </a:solidFill>
                <a:latin typeface="Aptos"/>
              </a:defRPr>
            </a:pPr>
            <a:r>
              <a:t>Compare theory with Qiskit Aer and inspect transpilation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Quantum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The mathematical model behind the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A qubit is |psi&gt; = alpha|0&gt; + beta|1&gt;, with |alpha|^2 + |beta|^2 = 1.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Measurement returns 0 or 1 according to the squared amplitudes.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Quantum gates are unitary transformations of the statevector.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Controlled gates create correlations; entanglement cannot be described as independent qubits.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An n-qubit statevector contains 2^n complex amplitudes.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Circuit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Reusable Qiskit builders cover the required gate families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7889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04A"/>
                </a:solidFill>
              </a:defRPr>
            </a:pPr>
            <a:r>
              <a:t>Single qubit</a:t>
            </a:r>
          </a:p>
          <a:p>
            <a:pPr>
              <a:defRPr sz="1600">
                <a:solidFill>
                  <a:srgbClr val="223240"/>
                </a:solidFill>
              </a:defRPr>
            </a:pP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I, X, Y, Z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H, S, T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Rx, Ry, Rz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Measurement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920240"/>
            <a:ext cx="27889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04A"/>
                </a:solidFill>
              </a:defRPr>
            </a:pPr>
            <a:r>
              <a:t>Multi-qubit</a:t>
            </a:r>
          </a:p>
          <a:p>
            <a:pPr>
              <a:defRPr sz="1600">
                <a:solidFill>
                  <a:srgbClr val="223240"/>
                </a:solidFill>
              </a:defRPr>
            </a:pP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CNOT / CX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Controlled-Z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SWAP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Toffoli / CCX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645920"/>
            <a:ext cx="3246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920240"/>
            <a:ext cx="27889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2304A"/>
                </a:solidFill>
              </a:defRPr>
            </a:pPr>
            <a:r>
              <a:t>Entanglement</a:t>
            </a:r>
          </a:p>
          <a:p>
            <a:pPr>
              <a:defRPr sz="1600">
                <a:solidFill>
                  <a:srgbClr val="223240"/>
                </a:solidFill>
              </a:defRPr>
            </a:pP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Bell state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GHZ state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Correlated measurements</a:t>
            </a:r>
          </a:p>
          <a:p>
            <a:pPr>
              <a:defRPr sz="1600">
                <a:solidFill>
                  <a:srgbClr val="223240"/>
                </a:solidFill>
              </a:defRPr>
            </a:pPr>
            <a:r>
              <a:t>Statevector inspection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Hadamard superposition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H transforms |0&gt; into an equal superposition.</a:t>
            </a:r>
          </a:p>
        </p:txBody>
      </p:sp>
      <p:pic>
        <p:nvPicPr>
          <p:cNvPr id="5" name="Picture 4" descr="hadam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2152891"/>
          </a:xfrm>
          <a:prstGeom prst="rect">
            <a:avLst/>
          </a:prstGeom>
        </p:spPr>
      </p:pic>
      <p:pic>
        <p:nvPicPr>
          <p:cNvPr id="6" name="Picture 5" descr="hadamard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937760" cy="28454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Bell-state 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H followed by CNOT produces correlated 00 and 11 outcomes.</a:t>
            </a:r>
          </a:p>
        </p:txBody>
      </p:sp>
      <p:pic>
        <p:nvPicPr>
          <p:cNvPr id="5" name="Picture 4" descr="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2152891"/>
          </a:xfrm>
          <a:prstGeom prst="rect">
            <a:avLst/>
          </a:prstGeom>
        </p:spPr>
      </p:pic>
      <p:pic>
        <p:nvPicPr>
          <p:cNvPr id="6" name="Picture 5" descr="bell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937760" cy="28454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GHZ-state 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A three-qubit extension produces correlated 000 and 111 outcomes.</a:t>
            </a:r>
          </a:p>
        </p:txBody>
      </p:sp>
      <p:pic>
        <p:nvPicPr>
          <p:cNvPr id="5" name="Picture 4" descr="gh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486400" cy="2152891"/>
          </a:xfrm>
          <a:prstGeom prst="rect">
            <a:avLst/>
          </a:prstGeom>
        </p:spPr>
      </p:pic>
      <p:pic>
        <p:nvPicPr>
          <p:cNvPr id="6" name="Picture 5" descr="ghz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937760" cy="28454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One shared API powers the app, notebook, and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190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04A"/>
                </a:solidFill>
              </a:defRPr>
            </a:pPr>
            <a:r>
              <a:t>circuits.py</a:t>
            </a:r>
          </a:p>
          <a:p>
            <a:pPr>
              <a:defRPr sz="1100">
                <a:solidFill>
                  <a:srgbClr val="566877"/>
                </a:solidFill>
              </a:defRPr>
            </a:pPr>
            <a:r>
              <a:t>14 reusable circuit constructors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5544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17190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04A"/>
                </a:solidFill>
              </a:defRPr>
            </a:pPr>
            <a:r>
              <a:t>simulator.py</a:t>
            </a:r>
          </a:p>
          <a:p>
            <a:pPr>
              <a:defRPr sz="1100">
                <a:solidFill>
                  <a:srgbClr val="566877"/>
                </a:solidFill>
              </a:defRPr>
            </a:pPr>
            <a:r>
              <a:t>statevectors, seeded counts, transpilation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544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7190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04A"/>
                </a:solidFill>
              </a:defRPr>
            </a:pPr>
            <a:r>
              <a:t>visualization.py</a:t>
            </a:r>
          </a:p>
          <a:p>
            <a:pPr>
              <a:defRPr sz="1100">
                <a:solidFill>
                  <a:srgbClr val="566877"/>
                </a:solidFill>
              </a:defRPr>
            </a:pPr>
            <a:r>
              <a:t>histograms and Bloch plots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832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5478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04A"/>
                </a:solidFill>
              </a:defRPr>
            </a:pPr>
            <a:r>
              <a:t>app.py</a:t>
            </a:r>
          </a:p>
          <a:p>
            <a:pPr>
              <a:defRPr sz="1100">
                <a:solidFill>
                  <a:srgbClr val="566877"/>
                </a:solidFill>
              </a:defRPr>
            </a:pPr>
            <a:r>
              <a:t>interactive Streamlit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3832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547872"/>
            <a:ext cx="2743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04A"/>
                </a:solidFill>
              </a:defRPr>
            </a:pPr>
            <a:r>
              <a:t>test_simulator.py</a:t>
            </a:r>
          </a:p>
          <a:p>
            <a:pPr>
              <a:defRPr sz="1100">
                <a:solidFill>
                  <a:srgbClr val="566877"/>
                </a:solidFill>
              </a:defRPr>
            </a:pPr>
            <a:r>
              <a:t>six automated behavior checks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Theoretical versus simulated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Seeded Aer measurements reproduce the expected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Pauli-X: |0&gt; becomes |1&gt; with probability 1.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Hadamard: approximately 50% |0&gt; and 50% |1&gt; over 1024 shots.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Bell: only 00 and 11 appear, demonstrating two-qubit correlation.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GHZ: only 000 and 111 appear, demonstrating three-qubit correlation.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The test suite verifies state probabilities and measurement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Transpilation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Preparing high-level circuits for a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Qiskit transpilation lowers circuits to operations supported by the selected backend.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The app reports original depth, transpiled depth, circuit size, and operation counts.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Six automated tests cover the catalog, Pauli-X, Hadamard, Bell, GHZ, rotations, and transpilation.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Latest validation result: 6 tests passed.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Challenges, limitations,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The base simulator is ideal and does not model decoherence or readout error.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Measurement results are statistical and depend on the number of shots.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Real IBM Quantum comparison requires credentials, backend access, and noise-aware analysis.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Future enhancements: drag-and-drop editing, noise models, hardware comparison, and export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Final submission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877"/>
                </a:solidFill>
              </a:defRPr>
            </a:pPr>
            <a:r>
              <a:t>Ready for demonstration and Google Classroom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Editable Jupyter Notebook with saved execution outputs and result plots.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Detailed editable report with complete source-code appendix.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Modular Python source code and functional Streamlit interface.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Automated test suite, README, dependency file, and presentation/video materials.</a:t>
            </a:r>
          </a:p>
          <a:p>
            <a:pPr>
              <a:spcAft>
                <a:spcPts val="1200"/>
              </a:spcAft>
              <a:defRPr sz="1800">
                <a:solidFill>
                  <a:srgbClr val="223240"/>
                </a:solidFill>
                <a:latin typeface="Aptos"/>
              </a:defRPr>
            </a:pPr>
            <a:r>
              <a:t>Demo video: quantum_circuit_product_1_demo.mp4.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66877"/>
                </a:solidFill>
              </a:defRPr>
            </a:pPr>
            <a:r>
              <a:t>Quantum Circuit Designer and Simulator  |  Product 1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